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F4F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2F4F8"/>
                </a:solidFill>
                <a:latin typeface="Arial"/>
              </a:rPr>
              <a:t>Worst-case wall-clock lag, by mode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Worst-case lag (s)</c:v>
                </c:pt>
              </c:strCache>
            </c:strRef>
          </c:tx>
          <c:spPr>
            <a:solidFill>
              <a:srgbClr val="8A8F9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2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F9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8B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B3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7DF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Serial
(CPU)</c:v>
                  </c:pt>
                  <c:pt idx="1">
                    <c:v>GPU
batched</c:v>
                  </c:pt>
                  <c:pt idx="2">
                    <c:v>+ Triage</c:v>
                  </c:pt>
                  <c:pt idx="3">
                    <c:v>+ Triage
+ LLM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0.117</c:v>
                </c:pt>
                <c:pt idx="1">
                  <c:v>0.02</c:v>
                </c:pt>
                <c:pt idx="2">
                  <c:v>0.021</c:v>
                </c:pt>
                <c:pt idx="3">
                  <c:v>0.021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2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6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6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420"/>
        </a:solidFill>
        <a:ln>
          <a:noFill/>
        </a:ln>
        <a:effectLst/>
      </c:spPr>
    </c:plotArea>
    <c:plotVisOnly val="1"/>
    <c:dispBlanksAs val="span"/>
  </c:chart>
  <c:spPr>
    <a:solidFill>
      <a:srgbClr val="0F14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2F4F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2F4F8"/>
                </a:solidFill>
                <a:latin typeface="Arial"/>
              </a:rPr>
              <a:t>Tier routing decisions per mode (micro-batches)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42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+ Triage</c:v>
                  </c:pt>
                  <c:pt idx="1">
                    <c:v>+ Triage + LLM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234</c:v>
                </c:pt>
                <c:pt idx="1">
                  <c:v>231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CHEAP</c:v>
                </c:pt>
              </c:strCache>
            </c:strRef>
          </c:tx>
          <c:spPr>
            <a:solidFill>
              <a:srgbClr val="E0B1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42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+ Triage</c:v>
                  </c:pt>
                  <c:pt idx="1">
                    <c:v>+ Triage + LLM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</c:v>
                </c:pt>
                <c:pt idx="1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SKIP</c:v>
                </c:pt>
              </c:strCache>
            </c:strRef>
          </c:tx>
          <c:spPr>
            <a:solidFill>
              <a:srgbClr val="8A8F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42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+ Triage</c:v>
                  </c:pt>
                  <c:pt idx="1">
                    <c:v>+ Triage + LLM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47</c:v>
                </c:pt>
                <c:pt idx="1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420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EB6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6C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14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42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05156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55448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205740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256032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0632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5486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0" name="Shape 8"/>
          <p:cNvSpPr/>
          <p:nvPr/>
        </p:nvSpPr>
        <p:spPr>
          <a:xfrm>
            <a:off x="9281160" y="105156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1" name="Shape 9"/>
          <p:cNvSpPr/>
          <p:nvPr/>
        </p:nvSpPr>
        <p:spPr>
          <a:xfrm>
            <a:off x="9281160" y="155448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2" name="Shape 10"/>
          <p:cNvSpPr/>
          <p:nvPr/>
        </p:nvSpPr>
        <p:spPr>
          <a:xfrm>
            <a:off x="9281160" y="205740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281160" y="256032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281160" y="30632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5486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105156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155448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205740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256032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4080" y="30632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87000" y="5486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7000" y="105156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7000" y="155448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7000" y="205740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87000" y="256032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87000" y="30632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89920" y="5486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89920" y="105156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89920" y="155448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89920" y="205740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89920" y="256032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89920" y="30632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92840" y="5486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92840" y="105156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92840" y="155448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92840" y="205740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92840" y="256032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8" name="Shape 36"/>
          <p:cNvSpPr/>
          <p:nvPr/>
        </p:nvSpPr>
        <p:spPr>
          <a:xfrm>
            <a:off x="11292840" y="3063240"/>
            <a:ext cx="45720" cy="45720"/>
          </a:xfrm>
          <a:prstGeom prst="ellipse">
            <a:avLst/>
          </a:prstGeom>
          <a:solidFill>
            <a:srgbClr val="26314A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8B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AMD DEVELOPER HACKATHON · ACT II · UNICORN TRACK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qdot-live-twin</a:t>
            </a:r>
            <a:endParaRPr lang="en-US" sz="6000" dirty="0"/>
          </a:p>
        </p:txBody>
      </p:sp>
      <p:sp>
        <p:nvSpPr>
          <p:cNvPr id="41" name="Text 39"/>
          <p:cNvSpPr/>
          <p:nvPr/>
        </p:nvSpPr>
        <p:spPr>
          <a:xfrm>
            <a:off x="822960" y="3520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live control console for a GPU-accelerated quantum-dot digital twin — with a triage agent that decides what's worth computing, and real bidirectional QCoDeS control.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960" y="4663440"/>
            <a:ext cx="2295144" cy="384048"/>
          </a:xfrm>
          <a:prstGeom prst="roundRect">
            <a:avLst>
              <a:gd name="adj" fmla="val 14286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4663440"/>
            <a:ext cx="2020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COMPUTE  </a:t>
            </a:r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AMD MI300X / ROCm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300984" y="4663440"/>
            <a:ext cx="2295144" cy="384048"/>
          </a:xfrm>
          <a:prstGeom prst="roundRect">
            <a:avLst>
              <a:gd name="adj" fmla="val 14286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8144" y="4663440"/>
            <a:ext cx="2020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 BACKEND  </a:t>
            </a:r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QArray (Rust)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779008" y="4663440"/>
            <a:ext cx="2459736" cy="384048"/>
          </a:xfrm>
          <a:prstGeom prst="roundRect">
            <a:avLst>
              <a:gd name="adj" fmla="val 14286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16168" y="4663440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FRAMEWORK  </a:t>
            </a:r>
            <a:pPr indent="0" marL="0">
              <a:buNone/>
            </a:pPr>
            <a:r>
              <a:rPr lang="en-US" sz="1050" dirty="0">
                <a:solidFill>
                  <a:srgbClr val="F2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QCoDeS-compatible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 by K. Sarandega  ·  github.com/k1151msarandega/SimQuantum-AMD-Developer-Hackathon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6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RUBRIC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each judged criterion shows up, with evidence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71E2E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240280"/>
            <a:ext cx="82296" cy="1508760"/>
          </a:xfrm>
          <a:prstGeom prst="roundRect">
            <a:avLst>
              <a:gd name="adj" fmla="val 22222"/>
            </a:avLst>
          </a:prstGeom>
          <a:solidFill>
            <a:srgbClr val="C77D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037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Creativity &amp; Originality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569464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Bidirectional QCoDeS control — real settable Parameters, twin reacts live  → Slide 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999232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Live-updating console, LabVIEW-style, not spinner-then-report  → Slide 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Triage agent visibly shedding load (SKIP) in real time  → Slide 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71E2E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2240280"/>
            <a:ext cx="82296" cy="1508760"/>
          </a:xfrm>
          <a:prstGeom prst="roundRect">
            <a:avLst>
              <a:gd name="adj" fmla="val 22222"/>
            </a:avLst>
          </a:prstGeom>
          <a:solidFill>
            <a:srgbClr val="4C8BF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2037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/ Market Potential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569464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QCoDeS-compatible today — any lab stack can subscribe or drive it, no rewrite  → Slide 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83680" y="2999232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Honest status reporting: working vs. blocked, not oversold  → Slide 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0" y="34290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Console shaped like something a lab would run next to real hardware  → Slide 4, 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71E2E"/>
          </a:solidFill>
          <a:ln w="12700">
            <a:solidFill>
              <a:srgbClr val="2FB3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297680"/>
            <a:ext cx="82296" cy="1508760"/>
          </a:xfrm>
          <a:prstGeom prst="roundRect">
            <a:avLst>
              <a:gd name="adj" fmla="val 22222"/>
            </a:avLst>
          </a:prstGeom>
          <a:solidFill>
            <a:srgbClr val="2FB38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2611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626864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pipeline runs end-to-end: sim → estimator → triage → hardware adapter → console  → Slide 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5056632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numbers measured on a real 2000-frame run, not projected  → Slide 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0120" y="54864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Known gap (LLM supervisor) disclosed with root cause, not hidden  → Slide 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41148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171E2E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4297680"/>
            <a:ext cx="82296" cy="1508760"/>
          </a:xfrm>
          <a:prstGeom prst="roundRect">
            <a:avLst>
              <a:gd name="adj" fmla="val 22222"/>
            </a:avLst>
          </a:prstGeom>
          <a:solidFill>
            <a:srgbClr val="E05252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2611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of AMD Platforms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626864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GPU-batched ensemble CNN inference runs on MI300X / ROCm  → Slide 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5056632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PyTorch batched inference is the mechanism behind the ~6x tail-latency win  → Slide 5, 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54864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9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pitch's central number traces directly back to this hardware, not around it  → Slide 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qdot-live-twin  ·  AMD Developer Hackathon: Act II  ·  Unicorn Track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6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quantum-dot labs generate data faster than models can honestly keep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2436"/>
          </a:solidFill>
          <a:ln w="19050">
            <a:solidFill>
              <a:srgbClr val="4C8B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8B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fire hose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stability-diagram stream that starts slow and accelerates — by design, so nothing downstream stays comfortable for long.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2436"/>
          </a:solidFill>
          <a:ln w="19050">
            <a:solidFill>
              <a:srgbClr val="4C8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8B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naive fix breaks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full inference on everything, and backlog grows unboundedly the moment the stream outpaces compute — worst-case lag spikes with no ceiling.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2436"/>
          </a:solidFill>
          <a:ln w="19050">
            <a:solidFill>
              <a:srgbClr val="4C8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8B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dishonest fix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49640" y="37033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 make the model cheaper. That trades accuracy for speed everywhere, even when nothing is actually going wrong.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real question isn't “how do we compute faster” — it's “what's actually worth computing, right now.”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qdot-live-twin  ·  AMD Developer Hackathon: Act II  ·  Unicorn Track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6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27234" y="384048"/>
            <a:ext cx="1313078" cy="292608"/>
          </a:xfrm>
          <a:prstGeom prst="roundRect">
            <a:avLst>
              <a:gd name="adj" fmla="val 50000"/>
            </a:avLst>
          </a:prstGeom>
          <a:ln w="15875">
            <a:solidFill>
              <a:srgbClr val="2FB3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27234" y="384048"/>
            <a:ext cx="13130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2FB3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COMPLETENESS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real pipeline, five honest stages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51914" cy="3200400"/>
          </a:xfrm>
          <a:prstGeom prst="roundRect">
            <a:avLst>
              <a:gd name="adj" fmla="val 3565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514600"/>
            <a:ext cx="1722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QArray twin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520440"/>
            <a:ext cx="172273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Rust-backed DotArray sim emits ground-truth stability-diagram patches on a scripted (or live-overridden) gate trajectory.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82266" y="3657600"/>
            <a:ext cx="521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8B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01722" y="2286000"/>
            <a:ext cx="2051914" cy="3200400"/>
          </a:xfrm>
          <a:prstGeom prst="roundRect">
            <a:avLst>
              <a:gd name="adj" fmla="val 3565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6314" y="2514600"/>
            <a:ext cx="1722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66314" y="288036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66314" y="3520440"/>
            <a:ext cx="172273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Serial CPU baseline vs. GPU-batched ensemble CNN on ROCm — same untrained weights, isolating compute cost from accuracy.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5347" y="3657600"/>
            <a:ext cx="521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8B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54803" y="2286000"/>
            <a:ext cx="2051914" cy="3200400"/>
          </a:xfrm>
          <a:prstGeom prst="roundRect">
            <a:avLst>
              <a:gd name="adj" fmla="val 3565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9395" y="2514600"/>
            <a:ext cx="1722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9395" y="288036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Triage 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9395" y="3520440"/>
            <a:ext cx="172273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FULL / CHEAP / SKIP decision from queue depth, staleness, and drift — tuned live by a background LLM supervisor.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88429" y="3657600"/>
            <a:ext cx="521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8B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07885" y="2286000"/>
            <a:ext cx="2051914" cy="3200400"/>
          </a:xfrm>
          <a:prstGeom prst="roundRect">
            <a:avLst>
              <a:gd name="adj" fmla="val 3565"/>
            </a:avLst>
          </a:prstGeom>
          <a:solidFill>
            <a:srgbClr val="1B2A2A"/>
          </a:solidFill>
          <a:ln w="12700">
            <a:solidFill>
              <a:srgbClr val="2FB3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2477" y="2514600"/>
            <a:ext cx="1722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2477" y="288036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QCoDeS twin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72477" y="3520440"/>
            <a:ext cx="172273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stream exposed as a real, settable QCoDeS Instrument — inject a voltage, the twin reacts on the next frame.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41510" y="3657600"/>
            <a:ext cx="521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8B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60966" y="2286000"/>
            <a:ext cx="2051914" cy="3200400"/>
          </a:xfrm>
          <a:prstGeom prst="roundRect">
            <a:avLst>
              <a:gd name="adj" fmla="val 3565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5558" y="2514600"/>
            <a:ext cx="17227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25558" y="288036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console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25558" y="3520440"/>
            <a:ext cx="172273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 UI that renders mid-run, not after — queue depth, tier routing, and supervisor reasoning, live.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5715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04 is bidirectional, not a read-only pull — more on the next-but-one slide.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qdot-live-twin  ·  AMD Developer Hackathon: Act II  ·  Unicorn Track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6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MEASURED, NOT CLAIMED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756648" y="384048"/>
            <a:ext cx="1883664" cy="292608"/>
          </a:xfrm>
          <a:prstGeom prst="roundRect">
            <a:avLst>
              <a:gd name="adj" fmla="val 50000"/>
            </a:avLst>
          </a:prstGeom>
          <a:ln w="15875">
            <a:solidFill>
              <a:srgbClr val="E052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56648" y="38404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0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OF AMD PLATFORMS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306410" y="384048"/>
            <a:ext cx="1313078" cy="292608"/>
          </a:xfrm>
          <a:prstGeom prst="roundRect">
            <a:avLst>
              <a:gd name="adj" fmla="val 50000"/>
            </a:avLst>
          </a:prstGeom>
          <a:ln w="15875">
            <a:solidFill>
              <a:srgbClr val="2FB3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06410" y="384048"/>
            <a:ext cx="13130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2FB3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number below is from a real run against a real 2000-frame stream</a:t>
            </a:r>
            <a:endParaRPr lang="en-US" sz="3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4884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903720" y="2148840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2258568"/>
            <a:ext cx="1463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3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~6x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41080" y="2258568"/>
            <a:ext cx="28346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tighter worst-case lag, GPU batched vs. serial CPU baseline (0.117s → 0.020s)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903720" y="3483864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0" y="3593592"/>
            <a:ext cx="1463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3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~4x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641080" y="3593592"/>
            <a:ext cx="28346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wall time end-to-end on the full 2000-frame run (30.8s → 8.1s)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03720" y="4818888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0" y="4928616"/>
            <a:ext cx="1463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3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~180x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641080" y="4928616"/>
            <a:ext cx="28346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single-diagram generation from QArray's Rust backend vs. JAX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Batching costs ~2ms of mean latency (a small, bounded wait to fill a batch) in exchange for a 6x tighter tail and 4x throughput — a deliberate, explainable trade, not a regression.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qdot-live-twin  ·  AMD Developer Hackathon: Act II  ·  Unicorn Track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6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TRIAGE AGENT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327234" y="384048"/>
            <a:ext cx="1313078" cy="292608"/>
          </a:xfrm>
          <a:prstGeom prst="roundRect">
            <a:avLst>
              <a:gd name="adj" fmla="val 50000"/>
            </a:avLst>
          </a:prstGeom>
          <a:ln w="15875">
            <a:solidFill>
              <a:srgbClr val="2FB3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27234" y="384048"/>
            <a:ext cx="13130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2FB3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COMPLETENESS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021117" y="384048"/>
            <a:ext cx="2168957" cy="292608"/>
          </a:xfrm>
          <a:prstGeom prst="roundRect">
            <a:avLst>
              <a:gd name="adj" fmla="val 50000"/>
            </a:avLst>
          </a:prstGeom>
          <a:ln w="15875">
            <a:solidFill>
              <a:srgbClr val="C77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21117" y="384048"/>
            <a:ext cx="216895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77D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CREATIVITY &amp; ORIGINALITY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triage agent decides what's worth computing — and sheds load under backlog</a:t>
            </a:r>
            <a:endParaRPr lang="en-US" sz="3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0312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583680" y="21031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1B2A2A"/>
          </a:solidFill>
          <a:ln w="12700">
            <a:solidFill>
              <a:srgbClr val="2FB3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22860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Rule-based triage: fully working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0" y="269748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Queue depth, time-since-full, and drift activity route each micro-batch to FULL / CHEAP / SKIP. SKIP genuinely drops frames — shown as distinct markers, not silently logged as completions.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397764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2A1F1F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41605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supervisor: designed, wired in, blocked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457200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background LLM reads backlog trends and re-tunes thresholds live. Fully implemented and integrated — currently blocked by a Fireworks account/deployment access issue on our end, not a design gap.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qdot-live-twin  ·  AMD Developer Hackathon: Act II  ·  Unicorn Track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6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&amp; BIDIRECTIONAL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471355" y="384048"/>
            <a:ext cx="2168957" cy="292608"/>
          </a:xfrm>
          <a:prstGeom prst="roundRect">
            <a:avLst>
              <a:gd name="adj" fmla="val 50000"/>
            </a:avLst>
          </a:prstGeom>
          <a:ln w="15875">
            <a:solidFill>
              <a:srgbClr val="C77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71355" y="384048"/>
            <a:ext cx="216895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77D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CREATIVITY &amp; ORIGINALITY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read-only demo: turn a virtual knob, watch the twin react live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94960" cy="3886200"/>
          </a:xfrm>
          <a:prstGeom prst="roundRect">
            <a:avLst>
              <a:gd name="adj" fmla="val 1882"/>
            </a:avLst>
          </a:prstGeom>
          <a:solidFill>
            <a:srgbClr val="1620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Live-updating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LabVIEW-style: state renders as the run happens.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82296" cy="82296"/>
          </a:xfrm>
          <a:prstGeom prst="ellipse">
            <a:avLst/>
          </a:prstGeom>
          <a:solidFill>
            <a:srgbClr val="4C8BF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272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Chart and tier counts update every few micro-batches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82296" cy="82296"/>
          </a:xfrm>
          <a:prstGeom prst="ellipse">
            <a:avLst/>
          </a:prstGeom>
          <a:solidFill>
            <a:srgbClr val="4C8BF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584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spinner-then-batch-report — the run is watchable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4160520"/>
            <a:ext cx="82296" cy="82296"/>
          </a:xfrm>
          <a:prstGeom prst="ellipse">
            <a:avLst/>
          </a:prstGeom>
          <a:solidFill>
            <a:srgbClr val="4C8B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0416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Supervisor reasoning streams in alongside the chart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2148840"/>
            <a:ext cx="5440680" cy="3886200"/>
          </a:xfrm>
          <a:prstGeom prst="roundRect">
            <a:avLst>
              <a:gd name="adj" fmla="val 1882"/>
            </a:avLst>
          </a:prstGeom>
          <a:solidFill>
            <a:srgbClr val="1E1730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Bidirectional QCoDeS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vx_override / vy_override are real, settable QCoDeS Parameters.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3520440"/>
            <a:ext cx="82296" cy="82296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4015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an override — it writes into a shared, thread-safe voltage state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977640"/>
            <a:ext cx="82296" cy="82296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8587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very next pulled frame reflects the injected voltage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4434840"/>
            <a:ext cx="82296" cy="82296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3159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drift detector flags anomalous frames live, in the same panel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the framework-compatibility pitch made real: a QCoDeS-based lab stack could drive this twin's gate voltages today, exactly as it would drive real hardware.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qdot-live-twin  ·  AMD Developer Hackathon: Act II  ·  Unicorn Track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6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HARDWARE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756648" y="384048"/>
            <a:ext cx="1883664" cy="292608"/>
          </a:xfrm>
          <a:prstGeom prst="roundRect">
            <a:avLst>
              <a:gd name="adj" fmla="val 50000"/>
            </a:avLst>
          </a:prstGeom>
          <a:ln w="15875">
            <a:solidFill>
              <a:srgbClr val="E052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56648" y="38404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E0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OF AMD PLATFORMS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MI300X isn't a checkbox — it's where the pitch's central number comes from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GPU-batched estimation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ensemble CNN charge-state estimator runs as PyTorch/ROCm batched inference on the MI300X — the mechanism behind the ~6x tail-latency improvement over serial CPU.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423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Untrained weights, by design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63440" y="30175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estimator's weights are intentionally untrained — this measures real compute cost and batching behavior under load, not model accuracy, which isn't the point of this demo.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14884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4231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Rust sim, GPU estimator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03920" y="301752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QArray's Rust backend generates ground-truth patches (~180x faster than JAX for single-frame gen); GPU work stays concentrated where batching actually pays off — the estimator.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620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COMPUTE  </a:t>
            </a:r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AMD MI300X / ROCm     </a:t>
            </a:r>
            <a:pPr indent="0" marL="0">
              <a:buNone/>
            </a:pPr>
            <a:r>
              <a:rPr lang="en-US" sz="120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  </a:t>
            </a:r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PyTorch batched inference     </a:t>
            </a:r>
            <a:pPr indent="0" marL="0">
              <a:buNone/>
            </a:pPr>
            <a:r>
              <a:rPr lang="en-US" sz="1200" b="1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  </a:t>
            </a:r>
            <a:pPr indent="0" marL="0">
              <a:buNone/>
            </a:pPr>
            <a:r>
              <a:rPr lang="en-US" sz="1200" dirty="0">
                <a:solidFill>
                  <a:srgbClr val="F2F4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QArray (Rust)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qdot-live-twin  ·  AMD Developer Hackathon: Act II  ·  Unicorn Track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6C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THIS GOES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328709" y="384048"/>
            <a:ext cx="2311603" cy="292608"/>
          </a:xfrm>
          <a:prstGeom prst="roundRect">
            <a:avLst>
              <a:gd name="adj" fmla="val 50000"/>
            </a:avLst>
          </a:prstGeom>
          <a:ln w="15875">
            <a:solidFill>
              <a:srgbClr val="4C8B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8709" y="384048"/>
            <a:ext cx="23116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4C8B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/ MARKET POTENTIAL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the console shape a real lab would actually run next to a measurement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23160"/>
            <a:ext cx="128016" cy="594360"/>
          </a:xfrm>
          <a:prstGeom prst="roundRect">
            <a:avLst>
              <a:gd name="adj" fmla="val 14286"/>
            </a:avLst>
          </a:prstGeom>
          <a:solidFill>
            <a:srgbClr val="2FB38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134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Working today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06240" y="2313432"/>
            <a:ext cx="7178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Serial + GPU-batched + rule-based triage, live-updating console, bidirectional QCoDeS control — all measured against a real 2000-frame stream, not mocked.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49040"/>
            <a:ext cx="128016" cy="594360"/>
          </a:xfrm>
          <a:prstGeom prst="roundRect">
            <a:avLst>
              <a:gd name="adj" fmla="val 14286"/>
            </a:avLst>
          </a:prstGeom>
          <a:solidFill>
            <a:srgbClr val="E0B152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6393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Honestly in progress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06240" y="3639312"/>
            <a:ext cx="7178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LLM-supervised threshold tuning is fully wired in and integration-tested; blocked on a Fireworks deployment/access issue, not a design gap.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71E2E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74920"/>
            <a:ext cx="128016" cy="594360"/>
          </a:xfrm>
          <a:prstGeom prst="roundRect">
            <a:avLst>
              <a:gd name="adj" fmla="val 14286"/>
            </a:avLst>
          </a:prstGeom>
          <a:solidFill>
            <a:srgbClr val="4C8BF5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9651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4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this goes next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06240" y="4965192"/>
            <a:ext cx="7178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QCoDeS adapter is the on-ramp: any QCoDeS-based lab stack can subscribe to this twin's stream or drive its gate voltages with no rewrite.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  —  github.com/k1151msarandega/SimQuantum-AMD-Developer-Hackathon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qdot-live-twin  ·  AMD Developer Hackathon: Act II  ·  Unicorn Track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86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2026-07-13T09:01:33Z</dcterms:created>
  <dcterms:modified xsi:type="dcterms:W3CDTF">2026-07-13T09:01:33Z</dcterms:modified>
</cp:coreProperties>
</file>